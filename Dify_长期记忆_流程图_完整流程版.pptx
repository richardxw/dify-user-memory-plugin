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ad9b224eb3d4669" Type="http://schemas.openxmlformats.org/officeDocument/2006/relationships/extended-properties" Target="docProps/app.xml"/><Relationship Id="R64cb3661beb04d55" Type="http://schemas.openxmlformats.org/package/2006/relationships/metadata/core-properties" Target="docProps/core.xml"/><Relationship Id="Rc3bb2627c62a4e5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0f3519d2284514"/>
  </p:sldMasterIdLst>
  <p:notesMasterIdLst>
    <p:notesMasterId xmlns:r="http://schemas.openxmlformats.org/officeDocument/2006/relationships" r:id="R754305e0efe141f2"/>
  </p:notesMasterIdLst>
  <p:sldIdLst>
    <p:sldId xmlns:r="http://schemas.openxmlformats.org/officeDocument/2006/relationships" id="256" r:id="Rb7133965efb54844"/>
    <p:sldId xmlns:r="http://schemas.openxmlformats.org/officeDocument/2006/relationships" id="257" r:id="R9aa917d9c73c4eaa"/>
    <p:sldId xmlns:ns0="http://schemas.openxmlformats.org/officeDocument/2006/relationships" id="258" ns0:id="rI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50b2f2a910274958" Type="http://schemas.openxmlformats.org/officeDocument/2006/relationships/tableStyles" Target="tableStyles.xml"/><Relationship Id="R600f3519d2284514" Type="http://schemas.openxmlformats.org/officeDocument/2006/relationships/slideMaster" Target="slideMasters/slideMaster1.xml"/><Relationship Id="R754305e0efe141f2" Type="http://schemas.openxmlformats.org/officeDocument/2006/relationships/notesMaster" Target="notesMasters/notesMaster1.xml"/><Relationship Id="R81582e3b2ec941b6" Type="http://schemas.openxmlformats.org/officeDocument/2006/relationships/theme" Target="theme/theme1.xml"/><Relationship Id="R9aa917d9c73c4eaa" Type="http://schemas.openxmlformats.org/officeDocument/2006/relationships/slide" Target="slides/slide2.xml"/><Relationship Id="Rb7133965efb54844" Type="http://schemas.openxmlformats.org/officeDocument/2006/relationships/slide" Target="slides/slide1.xml"/><Relationship Id="Rf9603b2a05c64dac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3998264be44942a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918ce478e1042b1" Type="http://schemas.openxmlformats.org/officeDocument/2006/relationships/slide" Target="../slides/slide1.xml"/><Relationship Id="Rc7430c44b04e4a2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f280ec903b9468e" Type="http://schemas.openxmlformats.org/officeDocument/2006/relationships/slide" Target="../slides/slide2.xml"/><Relationship Id="Rcb8d113a2216450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本页基于当前插件的实现：调用 upsert_user_memory 时，插件用 user_id 与记忆字段组成键，在 Dify Plugin Daemon 内置的持久化 KV 中保存。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 Chatflow 调用顺序：先用 sys.user_id 召回长期记忆，送入后续参数判断和回答节点。用户当前问题中明确给出的信息优先于长期记忆。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d8e1a64e7b34b6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c0d7e3788844bc" Type="http://schemas.openxmlformats.org/officeDocument/2006/relationships/theme" Target="theme/theme2.xml"/><Relationship Id="Rea1c12ba78af4fc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c12ba78af4f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816141d31f44a8a" Type="http://schemas.openxmlformats.org/officeDocument/2006/relationships/slideLayout" Target="../slideLayouts/slideLayout1.xml"/><Relationship Id="Rd5e6d35ddedc401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07e7fd990b843c7" Type="http://schemas.openxmlformats.org/officeDocument/2006/relationships/slideLayout" Target="../slideLayouts/slideLayout1.xml"/><Relationship Id="Rcfa61a2a0b494fdc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B1C631-FFD2-4108-BFBC-569CAA0B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7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24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插件如何用 KV 模拟长期存储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2F299-7103-43AE-87EF-31EA98BA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插件将用户明确表达的稳定偏好写入 Dify Plugin Daemon 的持久化 KV，再按 user_id 读取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610C6-A812-4453-8135-FE000730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924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FE36A-5628-4558-9BDF-DD7A87A2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7AEC0-189E-4EA0-9F76-19E4275D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1FCEA-2854-4594-BE7D-D250FA1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用户明确表达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1F4D2-E395-4E27-9613-A12A2842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例如：以后默认华东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3D78B-F2C7-4927-B925-38400401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47850"/>
            <a:ext cx="1924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06CED-93EC-45CE-A54D-366596FF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2AC45-8C83-450C-A875-2284148E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28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0FE71-AB1C-44A0-A3BB-B7CBFB0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Chatflow 提取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47C1F-44AB-4724-AA9B-A317D7B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仅保留白名单字段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DBF9A-1110-4CD8-986C-FA26492B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47850"/>
            <a:ext cx="1924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FCFA5-9301-47BF-A740-704C8EF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00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07127-B58B-4FE4-A9DC-FF0AF6B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28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31F9F-A095-4EB9-B05E-64C8739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校验写入请求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03D2E-858D-465B-B56F-2167E2FE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必须 explicit=true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46EB6-924C-4AA1-9CBB-166510FF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47850"/>
            <a:ext cx="1924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B05E9-FF8D-4160-A755-DA0EB79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E4BAF-9851-4E93-AAB2-17429054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28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3EF84-3442-4A03-9A09-A381C4AF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KV 持久化保存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BF456-A3B1-487F-B602-10C1CA3C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user_id + key + 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F02E6-1D6F-494B-AADE-78BCE4CC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1924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E722C-320A-4013-B8E5-E19D6C6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0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AB9EC-7BC6-4004-9ADE-B34DB4FA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28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EFF3E-43EC-489D-9E94-2965F42F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跨会话读取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28B81-E4AB-414C-AA84-44407137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同一 user_id 返回记忆</a:t>
            </a:r>
          </a:p>
        </p:txBody>
      </p:sp>
      <p:cxnSp>
        <p:nvCxnSpPr>
          <p:cNvPr id="73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9850" y="27241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D4ED8"/>
            </a:solidFill>
            <a:prstDash val="solid"/>
            <a:tailEnd type="arrow" w="med" len="med"/>
          </a:ln>
        </p:spPr>
      </p:cxn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24400" y="27241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838950" y="27241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5309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953500" y="27241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D4ED8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549E38-A3C1-4F1A-9DFB-C5D83FBE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57700"/>
            <a:ext cx="8343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14288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3B706B-67C7-4A33-8BE5-67512F08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577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Dify Plugin Daemon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349FAA-A6B4-4E61-8F4C-950C75AD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720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内置 KV 存储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97167-570C-4811-9F56-3ABDCE44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96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275" b="1">
                <a:solidFill>
                  <a:srgbClr val="4B5563"/>
                </a:solidFill>
                <a:latin typeface="SimHei"/>
                <a:ea typeface="SimHei"/>
                <a:cs typeface="SimHei"/>
              </a:rPr>
              <a:t>数据模型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2E630A-22EF-4D35-9276-6412A0D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E1D2EE-B009-4D85-A79D-EF28D54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720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D4ED8"/>
                </a:solidFill>
                <a:latin typeface="Times New Roman"/>
                <a:ea typeface="Times New Roman"/>
                <a:cs typeface="Times New Roman"/>
              </a:rPr>
              <a:t>user_id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BD13FD-7F68-4732-AAE9-9A005FE5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51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4B5563"/>
                </a:solidFill>
                <a:latin typeface="SimHei"/>
                <a:ea typeface="SimHei"/>
                <a:cs typeface="SimHei"/>
              </a:rPr>
              <a:t>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DE60C9-CCEF-4B9E-B056-0AB0A37E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530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B5CDDB-8EC7-471A-91D0-CAE7FBCF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720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F766E"/>
                </a:solidFill>
                <a:latin typeface="Times New Roman"/>
                <a:ea typeface="Times New Roman"/>
                <a:cs typeface="Times New Roman"/>
              </a:rPr>
              <a:t>key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1C035E-9109-4D51-8F4C-E5F5AAFB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72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51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4B5563"/>
                </a:solidFill>
                <a:latin typeface="SimHei"/>
                <a:ea typeface="SimHei"/>
                <a:cs typeface="SimHei"/>
              </a:rPr>
              <a:t>=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7C6FB7-3D9B-47CC-A592-99D4C106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53000"/>
            <a:ext cx="1847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117BE0-4E1E-4BB5-B9FC-8F93CF2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9720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530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309"/>
                </a:solidFill>
                <a:latin typeface="Times New Roman"/>
                <a:ea typeface="Times New Roman"/>
                <a:cs typeface="Times New Roman"/>
              </a:rPr>
              <a:t>value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DC7ECD-7D80-49FC-BAEE-99F07258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2925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示例： demo-xiaowang  +  default_region  =  华东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B6DFF1-4FE8-4899-9D39-B3AB99E0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写入边界：仅用户明确表达的长期偏好或基本画像。一次性问题、模型推断与敏感信息不保存。</a:t>
            </a:r>
          </a:p>
        </p:txBody>
      </p:sp>
    </p:spTree>
    <p:extLst>
      <p:ext uri="{BB962C8B-B14F-4D97-AF65-F5344CB8AC3E}">
        <p14:creationId xmlns:p14="http://schemas.microsoft.com/office/powerpoint/2010/main" val="1131539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507650-5811-49D6-8B53-1FE7BC1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70"/>
          </a:bodyPr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11827"/>
                </a:solidFill>
                <a:latin typeface="SimHei"/>
              </a:rPr>
              <a:t>长期记忆如何保存，并在 Chatbot 中生效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2AAEA-12BB-46A1-9E71-2EC674C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4B5563"/>
                </a:solidFill>
                <a:latin typeface="SimHei"/>
              </a:rPr>
              <a:t>用户明确表达稳定偏好时写入持久化 KV；后续会话按相同 user_id 召回，并结合短期上下文和本轮问题生成答案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98273-0189-4AB3-A750-4EC9DB01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FAAED-9039-4F11-89D3-09DA0D79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用户提问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AFC2E-CFAF-4471-8B15-E375BD8D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1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050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“2023 年 VONB 是多少？”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FA525-FD7F-4792-8DA2-8F4B1FC9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28800"/>
            <a:ext cx="18478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61796-1477-4BCA-A534-98D09F41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907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召回长期记忆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F6ECF-7090-4502-AF84-BA2AC5C2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33625"/>
            <a:ext cx="1562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0F766E"/>
                </a:solidFill>
                <a:latin typeface="Times New Roman"/>
                <a:ea typeface="Times New Roman"/>
                <a:cs typeface="Times New Roman"/>
              </a:rPr>
              <a:t>recall_user_memory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5AFF9-0B0F-4AD7-9FA5-4BDD269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38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050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读取 default_region=华东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86A60-E3FC-42E2-876B-A0993AF3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28800"/>
            <a:ext cx="18859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2F32B-967C-4C99-9EB2-7EBBD1E3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907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合并上下文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5053E-0894-4CEC-ACBA-1A04A3D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43150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长期记忆 + 最近 8 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D349F-B8F8-4CEC-9E30-E120991E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574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125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本轮问题优先级最高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97FBB-ED0E-44E6-939D-DB9AE904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28800"/>
            <a:ext cx="16573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EA777-00F5-4A3C-8C1C-DA96A2CB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907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参数判断与检索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0C121-FFF8-44B5-B646-8FB0B0C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5267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050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地区未指定：使用华东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5676A-A978-4051-AD65-5CC64717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5747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050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地区仍缺失：追问用户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7167B-D887-4A18-9498-29E7164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0250"/>
            <a:ext cx="1600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1187D-B640-4D61-8557-6193756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1431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基于证据回答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5E4A0-2F9D-4C81-8D65-64F24D76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5241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SimHei"/>
                <a:ea typeface="SimHei"/>
                <a:cs typeface="SimHei"/>
              </a:defRPr>
            </a:pPr>
            <a:r>
              <a:rPr sz="1050" b="0">
                <a:solidFill>
                  <a:srgbClr val="4B5563"/>
                </a:solidFill>
                <a:latin typeface="SimHei"/>
                <a:ea typeface="SimHei"/>
                <a:cs typeface="SimHei"/>
              </a:rPr>
              <a:t>知识库证据不足时说明</a:t>
            </a:r>
          </a:p>
        </p:txBody>
      </p:sp>
      <p:cxnSp>
        <p:nvCxnSpPr>
          <p:cNvPr id="5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62200" y="24955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D4ED8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43450" y="24955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62800" y="24955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D4ED8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353550" y="24955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5309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33C13-436F-4881-8C29-7B5C88AB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95750"/>
            <a:ext cx="8877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14288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30A489-CB9A-4C44-BD85-CD2E9FFF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91250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4B5563"/>
                </a:solidFill>
                <a:latin typeface="SimHei"/>
              </a:rPr>
              <a:t>保存：仅写入用户明确表达的稳定偏好；读取：新开会话传入相同 user_id 即可召回。当前问题中的明确信息优先于长期记忆。</a:t>
            </a:r>
          </a:p>
        </p:txBody>
      </p:sp>
      <p:sp xmlns:a="http://schemas.openxmlformats.org/drawingml/2006/main">
        <p:nvSpPr>
          <p:cNvPr id="74" name="TextBox 73"/>
          <p:cNvSpPr txBox="1"/>
          <p:nvPr/>
        </p:nvSpPr>
        <p:spPr>
          <a:xfrm>
            <a:off x="713232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374151"/>
                </a:solidFill>
                <a:latin typeface="SimHei"/>
              </a:rPr>
              <a:t>使用长期记忆（召回路径）</a:t>
            </a:r>
          </a:p>
        </p:txBody>
      </p:sp>
      <p:sp xmlns:a="http://schemas.openxmlformats.org/drawingml/2006/main">
        <p:nvSpPr>
          <p:cNvPr id="75" name="TextBox 74"/>
          <p:cNvSpPr txBox="1"/>
          <p:nvPr/>
        </p:nvSpPr>
        <p:spPr>
          <a:xfrm>
            <a:off x="1847088" y="429768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SimHei"/>
              </a:rPr>
              <a:t>保存长期记忆（写入路径）</a:t>
            </a:r>
          </a:p>
        </p:txBody>
      </p:sp>
      <p:sp xmlns:a="http://schemas.openxmlformats.org/drawingml/2006/main">
        <p:nvSpPr>
          <p:cNvPr id="76" name="Rounded Rectangle 75"/>
          <p:cNvSpPr/>
          <p:nvPr/>
        </p:nvSpPr>
        <p:spPr>
          <a:xfrm>
            <a:off x="1828800" y="4736592"/>
            <a:ext cx="1737360" cy="603504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/>
            <a:r>
              <a:rPr sz="1050" b="1">
                <a:solidFill>
                  <a:srgbClr val="111827"/>
                </a:solidFill>
                <a:latin typeface="SimHei"/>
              </a:rPr>
              <a:t>用户明确表达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4B5563"/>
                </a:solidFill>
                <a:latin typeface="SimHei"/>
              </a:rPr>
              <a:t>例如：以后默认华东</a:t>
            </a:r>
          </a:p>
        </p:txBody>
      </p:sp>
      <p:sp xmlns:a="http://schemas.openxmlformats.org/drawingml/2006/main">
        <p:nvSpPr>
          <p:cNvPr id="77" name="Rounded Rectangle 76"/>
          <p:cNvSpPr/>
          <p:nvPr/>
        </p:nvSpPr>
        <p:spPr>
          <a:xfrm>
            <a:off x="3931920" y="4736592"/>
            <a:ext cx="1737360" cy="603504"/>
          </a:xfrm>
          <a:prstGeom prst="roundRect">
            <a:avLst>
              <a:gd name="adj" fmla="val 8000"/>
            </a:avLst>
          </a:prstGeom>
          <a:solidFill>
            <a:srgbClr val="E7F7F5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/>
            <a:r>
              <a:rPr sz="969" b="1">
                <a:solidFill>
                  <a:srgbClr val="111827"/>
                </a:solidFill>
                <a:latin typeface="SimHei"/>
              </a:rPr>
              <a:t>Chatflow 提取与校验</a:t>
            </a:r>
          </a:p>
          <a:p>
            <a:pPr algn="ctr">
              <a:spcBef>
                <a:spcPts val="200"/>
              </a:spcBef>
            </a:pPr>
            <a:r>
              <a:rPr sz="750" b="0">
                <a:solidFill>
                  <a:srgbClr val="4B5563"/>
                </a:solidFill>
                <a:latin typeface="SimHei"/>
              </a:rPr>
              <a:t>白名单字段 + explicit=true</a:t>
            </a:r>
          </a:p>
        </p:txBody>
      </p:sp>
      <p:sp xmlns:a="http://schemas.openxmlformats.org/drawingml/2006/main">
        <p:nvSpPr>
          <p:cNvPr id="78" name="Rounded Rectangle 77"/>
          <p:cNvSpPr/>
          <p:nvPr/>
        </p:nvSpPr>
        <p:spPr>
          <a:xfrm>
            <a:off x="6035040" y="4736592"/>
            <a:ext cx="1737360" cy="603504"/>
          </a:xfrm>
          <a:prstGeom prst="roundRect">
            <a:avLst>
              <a:gd name="adj" fmla="val 8000"/>
            </a:avLst>
          </a:prstGeom>
          <a:solidFill>
            <a:srgbClr val="FFF5E6"/>
          </a:solidFill>
          <a:ln w="1397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/>
            <a:r>
              <a:rPr sz="1050" b="1">
                <a:solidFill>
                  <a:srgbClr val="111827"/>
                </a:solidFill>
                <a:latin typeface="SimHei"/>
              </a:rPr>
              <a:t>upsert_user_memory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4B5563"/>
                </a:solidFill>
                <a:latin typeface="SimHei"/>
              </a:rPr>
              <a:t>写入 user_id + key + value</a:t>
            </a:r>
          </a:p>
        </p:txBody>
      </p:sp>
      <p:sp xmlns:a="http://schemas.openxmlformats.org/drawingml/2006/main">
        <p:nvSpPr>
          <p:cNvPr id="79" name="Rounded Rectangle 78"/>
          <p:cNvSpPr/>
          <p:nvPr/>
        </p:nvSpPr>
        <p:spPr>
          <a:xfrm>
            <a:off x="8138160" y="4736592"/>
            <a:ext cx="1737360" cy="603504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bIns="36576"/>
          <a:lstStyle/>
          <a:p>
            <a:pPr algn="ctr"/>
            <a:r>
              <a:rPr sz="1050" b="1">
                <a:solidFill>
                  <a:srgbClr val="111827"/>
                </a:solidFill>
                <a:latin typeface="SimHei"/>
              </a:rPr>
              <a:t>KV 持久化保存</a:t>
            </a:r>
          </a:p>
          <a:p>
            <a:pPr algn="ctr">
              <a:spcBef>
                <a:spcPts val="200"/>
              </a:spcBef>
            </a:pPr>
            <a:r>
              <a:rPr sz="800" b="0">
                <a:solidFill>
                  <a:srgbClr val="4B5563"/>
                </a:solidFill>
                <a:latin typeface="SimHei"/>
              </a:rPr>
              <a:t>按 user_id 跨会话保留</a:t>
            </a:r>
          </a:p>
        </p:txBody>
      </p:sp>
      <p:sp xmlns:a="http://schemas.openxmlformats.org/drawingml/2006/main">
        <p:nvSpPr>
          <p:cNvPr id="80" name="Right Arrow 79"/>
          <p:cNvSpPr/>
          <p:nvPr/>
        </p:nvSpPr>
        <p:spPr>
          <a:xfrm>
            <a:off x="3602736" y="4919472"/>
            <a:ext cx="219456" cy="16459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1" name="Right Arrow 80"/>
          <p:cNvSpPr/>
          <p:nvPr/>
        </p:nvSpPr>
        <p:spPr>
          <a:xfrm>
            <a:off x="5705856" y="4919472"/>
            <a:ext cx="219456" cy="16459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2" name="Right Arrow 81"/>
          <p:cNvSpPr/>
          <p:nvPr/>
        </p:nvSpPr>
        <p:spPr>
          <a:xfrm>
            <a:off x="7808975" y="4919472"/>
            <a:ext cx="219456" cy="16459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3" name="TextBox 82"/>
          <p:cNvSpPr txBox="1"/>
          <p:nvPr/>
        </p:nvSpPr>
        <p:spPr>
          <a:xfrm>
            <a:off x="1847088" y="5394960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B7280"/>
                </a:solidFill>
                <a:latin typeface="SimHei"/>
              </a:rPr>
              <a:t>只有明确、稳定且允许保存的信息才写入；一次性问题、模型推断与敏感信息不保存。</a:t>
            </a:r>
          </a:p>
        </p:txBody>
      </p:sp>
    </p:spTree>
    <p:extLst>
      <p:ext uri="{BB962C8B-B14F-4D97-AF65-F5344CB8AC3E}">
        <p14:creationId xmlns:p14="http://schemas.microsoft.com/office/powerpoint/2010/main" val="617633325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SimHei"/>
              </a:rPr>
              <a:t>长期记忆完整流程：从保存到跨会话召回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  <a:latin typeface="SimHei"/>
              </a:rPr>
              <a:t>同一 user_id 贯穿写入与读取；本轮明确输入始终覆盖长期默认值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07592"/>
            <a:ext cx="148132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imHei"/>
              </a:rPr>
              <a:t>① 保存长期记忆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1481328" cy="96012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50" b="1">
                <a:solidFill>
                  <a:srgbClr val="111827"/>
                </a:solidFill>
                <a:latin typeface="SimHei"/>
              </a:rPr>
              <a:t>用户明确表达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B7280"/>
                </a:solidFill>
                <a:latin typeface="SimHei"/>
              </a:rPr>
              <a:t>“以后默认华东”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85416" y="2167128"/>
            <a:ext cx="219456" cy="146304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87168" y="1755648"/>
            <a:ext cx="1536192" cy="96012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50" b="1">
                <a:solidFill>
                  <a:srgbClr val="111827"/>
                </a:solidFill>
                <a:latin typeface="SimHei"/>
              </a:rPr>
              <a:t>提取候选记忆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B7280"/>
                </a:solidFill>
                <a:latin typeface="SimHei"/>
              </a:rPr>
              <a:t>白名单字段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2" y="2167128"/>
            <a:ext cx="219456" cy="146304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07408" y="1755648"/>
            <a:ext cx="1609344" cy="96012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50" b="1">
                <a:solidFill>
                  <a:srgbClr val="111827"/>
                </a:solidFill>
                <a:latin typeface="SimHei"/>
              </a:rPr>
              <a:t>保存条件校验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B7280"/>
                </a:solidFill>
                <a:latin typeface="SimHei"/>
              </a:rPr>
              <a:t>explicit=true
稳定 · 非敏感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08192" y="2167128"/>
            <a:ext cx="219456" cy="146304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755648"/>
            <a:ext cx="1581912" cy="96012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80" b="1">
                <a:solidFill>
                  <a:srgbClr val="111827"/>
                </a:solidFill>
                <a:latin typeface="SimHei"/>
              </a:rPr>
              <a:t>upsert_user_
memory</a:t>
            </a:r>
          </a:p>
          <a:p>
            <a:pPr algn="ctr">
              <a:spcBef>
                <a:spcPts val="200"/>
              </a:spcBef>
            </a:pPr>
            <a:r>
              <a:rPr sz="919">
                <a:solidFill>
                  <a:srgbClr val="6B7280"/>
                </a:solidFill>
                <a:latin typeface="SimHei"/>
              </a:rPr>
              <a:t>user_id + key + value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65008" y="2167128"/>
            <a:ext cx="219456" cy="146304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8366760" y="1664208"/>
            <a:ext cx="2468880" cy="1143000"/>
          </a:xfrm>
          <a:prstGeom prst="can">
            <a:avLst/>
          </a:prstGeom>
          <a:solidFill>
            <a:srgbClr val="FCFDFE"/>
          </a:solidFill>
          <a:ln w="1778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1827"/>
                </a:solidFill>
                <a:latin typeface="SimHei"/>
              </a:rPr>
              <a:t>Plugin Daemon KV</a:t>
            </a:r>
          </a:p>
          <a:p>
            <a:pPr algn="ctr"/>
            <a:r>
              <a:rPr sz="880">
                <a:solidFill>
                  <a:srgbClr val="6B7280"/>
                </a:solidFill>
                <a:latin typeface="SimHei"/>
              </a:rPr>
              <a:t>demo-xiaowang + default_region = 华东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102352" y="2770632"/>
            <a:ext cx="146304" cy="201168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2999232"/>
            <a:ext cx="1389888" cy="502920"/>
          </a:xfrm>
          <a:prstGeom prst="roundRect">
            <a:avLst/>
          </a:prstGeom>
          <a:solidFill>
            <a:srgbClr val="F3F4F6"/>
          </a:solidFill>
          <a:ln w="1397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6B7280"/>
                </a:solidFill>
                <a:latin typeface="SimHei"/>
              </a:rPr>
              <a:t>不满足条件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6B7280"/>
                </a:solidFill>
                <a:latin typeface="SimHei"/>
              </a:rPr>
              <a:t>仅本轮使用，不写入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44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imHei"/>
              </a:rPr>
              <a:t>跨会话持久化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464040" y="3310128"/>
            <a:ext cx="164592" cy="274320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3675887"/>
            <a:ext cx="1700784" cy="310896"/>
          </a:xfrm>
          <a:prstGeom prst="roundRect">
            <a:avLst/>
          </a:prstGeom>
          <a:solidFill>
            <a:srgbClr val="E7F7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766E"/>
                </a:solidFill>
                <a:latin typeface="SimHei"/>
              </a:rPr>
              <a:t>② 召回并使用记忆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05656"/>
            <a:ext cx="1417320" cy="932688"/>
          </a:xfrm>
          <a:prstGeom prst="roundRect">
            <a:avLst/>
          </a:prstGeom>
          <a:solidFill>
            <a:srgbClr val="E7F7F5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80" b="1">
                <a:solidFill>
                  <a:srgbClr val="111827"/>
                </a:solidFill>
                <a:latin typeface="SimHei"/>
              </a:rPr>
              <a:t>新会话提问</a:t>
            </a:r>
          </a:p>
          <a:p>
            <a:pPr algn="ctr">
              <a:spcBef>
                <a:spcPts val="200"/>
              </a:spcBef>
            </a:pPr>
            <a:r>
              <a:rPr sz="890">
                <a:solidFill>
                  <a:srgbClr val="6B7280"/>
                </a:solidFill>
                <a:latin typeface="SimHei"/>
              </a:rPr>
              <a:t>同一 user_id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139696" y="4498848"/>
            <a:ext cx="182880" cy="1371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40864" y="4105656"/>
            <a:ext cx="1417320" cy="932688"/>
          </a:xfrm>
          <a:prstGeom prst="roundRect">
            <a:avLst/>
          </a:prstGeom>
          <a:solidFill>
            <a:srgbClr val="E7F7F5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30" b="1">
                <a:solidFill>
                  <a:srgbClr val="111827"/>
                </a:solidFill>
                <a:latin typeface="SimHei"/>
              </a:rPr>
              <a:t>recall_user_
memory</a:t>
            </a:r>
          </a:p>
          <a:p>
            <a:pPr algn="ctr">
              <a:spcBef>
                <a:spcPts val="200"/>
              </a:spcBef>
            </a:pPr>
            <a:r>
              <a:rPr sz="890">
                <a:solidFill>
                  <a:srgbClr val="6B7280"/>
                </a:solidFill>
                <a:latin typeface="SimHei"/>
              </a:rPr>
              <a:t>读取 default_region=华东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840480" y="4498848"/>
            <a:ext cx="182880" cy="1371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41648" y="4105656"/>
            <a:ext cx="1417320" cy="932688"/>
          </a:xfrm>
          <a:prstGeom prst="roundRect">
            <a:avLst/>
          </a:prstGeom>
          <a:solidFill>
            <a:srgbClr val="E7F7F5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80" b="1">
                <a:solidFill>
                  <a:srgbClr val="111827"/>
                </a:solidFill>
                <a:latin typeface="SimHei"/>
              </a:rPr>
              <a:t>合并上下文</a:t>
            </a:r>
          </a:p>
          <a:p>
            <a:pPr algn="ctr">
              <a:spcBef>
                <a:spcPts val="200"/>
              </a:spcBef>
            </a:pPr>
            <a:r>
              <a:rPr sz="890">
                <a:solidFill>
                  <a:srgbClr val="6B7280"/>
                </a:solidFill>
                <a:latin typeface="SimHei"/>
              </a:rPr>
              <a:t>长期记忆 + 最近 8 轮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541264" y="4498848"/>
            <a:ext cx="182880" cy="1371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42432" y="4105656"/>
            <a:ext cx="1417320" cy="932688"/>
          </a:xfrm>
          <a:prstGeom prst="roundRect">
            <a:avLst/>
          </a:prstGeom>
          <a:solidFill>
            <a:srgbClr val="E7F7F5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80" b="1">
                <a:solidFill>
                  <a:srgbClr val="111827"/>
                </a:solidFill>
                <a:latin typeface="SimHei"/>
              </a:rPr>
              <a:t>参数优先级判断</a:t>
            </a:r>
          </a:p>
          <a:p>
            <a:pPr algn="ctr">
              <a:spcBef>
                <a:spcPts val="200"/>
              </a:spcBef>
            </a:pPr>
            <a:r>
              <a:rPr sz="890">
                <a:solidFill>
                  <a:srgbClr val="6B7280"/>
                </a:solidFill>
                <a:latin typeface="SimHei"/>
              </a:rPr>
              <a:t>本轮明确 &gt; 长期默认 &gt; 追问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42048" y="4498848"/>
            <a:ext cx="182880" cy="1371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43216" y="4105656"/>
            <a:ext cx="1417320" cy="932688"/>
          </a:xfrm>
          <a:prstGeom prst="roundRect">
            <a:avLst/>
          </a:prstGeom>
          <a:solidFill>
            <a:srgbClr val="E7F7F5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80" b="1">
                <a:solidFill>
                  <a:srgbClr val="111827"/>
                </a:solidFill>
                <a:latin typeface="SimHei"/>
              </a:rPr>
              <a:t>知识库检索</a:t>
            </a:r>
          </a:p>
          <a:p>
            <a:pPr algn="ctr">
              <a:spcBef>
                <a:spcPts val="200"/>
              </a:spcBef>
            </a:pPr>
            <a:r>
              <a:rPr sz="890">
                <a:solidFill>
                  <a:srgbClr val="6B7280"/>
                </a:solidFill>
                <a:latin typeface="SimHei"/>
              </a:rPr>
              <a:t>带完整参数查询证据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942832" y="4498848"/>
            <a:ext cx="182880" cy="1371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0" y="4105656"/>
            <a:ext cx="1609344" cy="932688"/>
          </a:xfrm>
          <a:prstGeom prst="roundRect">
            <a:avLst/>
          </a:prstGeom>
          <a:solidFill>
            <a:srgbClr val="E7F7F5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80" b="1">
                <a:solidFill>
                  <a:srgbClr val="111827"/>
                </a:solidFill>
                <a:latin typeface="SimHei"/>
              </a:rPr>
              <a:t>基于证据回答</a:t>
            </a:r>
          </a:p>
          <a:p>
            <a:pPr algn="ctr">
              <a:spcBef>
                <a:spcPts val="200"/>
              </a:spcBef>
            </a:pPr>
            <a:r>
              <a:rPr sz="890">
                <a:solidFill>
                  <a:srgbClr val="6B7280"/>
                </a:solidFill>
                <a:latin typeface="SimHei"/>
              </a:rPr>
              <a:t>证据不足时明确说明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28048" y="3529584"/>
            <a:ext cx="16459" cy="3931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72384" y="3904487"/>
            <a:ext cx="6464808" cy="1645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4952" y="3904487"/>
            <a:ext cx="16459" cy="182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2971800" y="3968496"/>
            <a:ext cx="164592" cy="182880"/>
          </a:xfrm>
          <a:prstGeom prst="down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5321808"/>
            <a:ext cx="10104120" cy="786384"/>
          </a:xfrm>
          <a:prstGeom prst="roundRect">
            <a:avLst/>
          </a:prstGeom>
          <a:solidFill>
            <a:srgbClr val="FCFD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5468112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  <a:latin typeface="SimHei"/>
              </a:rPr>
              <a:t>保存边界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66013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6B7280"/>
                </a:solidFill>
                <a:latin typeface="SimHei"/>
              </a:rPr>
              <a:t>只保存用户明确表达、稳定且允许保存的信息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215" y="546811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SimHei"/>
              </a:rPr>
              <a:t>身份键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14215" y="566013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6B7280"/>
                </a:solidFill>
                <a:latin typeface="SimHei"/>
              </a:rPr>
              <a:t>sys.user_id 决定跨会话是否能召回同一份记忆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2" y="5468112"/>
            <a:ext cx="3401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SimHei"/>
              </a:rPr>
              <a:t>覆盖规则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5660136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6B7280"/>
                </a:solidFill>
                <a:latin typeface="SimHei"/>
              </a:rPr>
              <a:t>本轮明确指定值 &gt; 长期默认值；仍缺参数才追问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2026-09-17T08:32:11.2170000Z</dcterms:created>
  <dcterms:modified xsi:type="dcterms:W3CDTF">2026-09-17T08:32:11.2170000Z</dcterms:modified>
</coreProperties>
</file>